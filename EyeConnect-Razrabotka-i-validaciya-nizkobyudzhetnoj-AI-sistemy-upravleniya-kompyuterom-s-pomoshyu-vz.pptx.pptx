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Source Sans 3 Bold" charset="1" panose="020B0303030403020204"/>
      <p:regular r:id="rId17"/>
    </p:embeddedFont>
    <p:embeddedFont>
      <p:font typeface="Source Sans 3" charset="1" panose="020B0303030403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theme" Target="theme/theme2.xml"/><Relationship Id="rId15" Type="http://schemas.openxmlformats.org/officeDocument/2006/relationships/notesSlide" Target="notesSlides/notesSlide1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notesSlide" Target="notesSlides/notesSlide2.xml"/><Relationship Id="rId20" Type="http://schemas.openxmlformats.org/officeDocument/2006/relationships/notesSlide" Target="notesSlides/notesSlide3.xml"/><Relationship Id="rId21" Type="http://schemas.openxmlformats.org/officeDocument/2006/relationships/notesSlide" Target="notesSlides/notesSlide4.xml"/><Relationship Id="rId22" Type="http://schemas.openxmlformats.org/officeDocument/2006/relationships/notesSlide" Target="notesSlides/notesSlide5.xml"/><Relationship Id="rId23" Type="http://schemas.openxmlformats.org/officeDocument/2006/relationships/notesSlide" Target="notesSlides/notes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7409857" y="153086"/>
            <a:ext cx="10188363" cy="432904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6838"/>
              </a:lnSpc>
            </a:pPr>
            <a:r>
              <a:rPr sz="5479" b="1">
                <a:solidFill>
                  <a:srgbClr val="000000"/>
                </a:solidFill>
                <a:latin typeface="Montserrat Bold"/>
              </a:rPr>
              <a:t>EyeConnect: управление ПК взглядом при ограниченной мобильности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52003" y="5615609"/>
            <a:ext cx="9846218" cy="174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3"/>
              </a:lnSpc>
            </a:pPr>
            <a:r>
              <a:rPr lang="en-US" sz="3149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Авторы:</a:t>
            </a:r>
            <a:r>
              <a:rPr lang="en-US" sz="3149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 </a:t>
            </a:r>
          </a:p>
          <a:p>
            <a:pPr algn="l">
              <a:lnSpc>
                <a:spcPts val="4723"/>
              </a:lnSpc>
            </a:pPr>
            <a:r>
              <a:rPr lang="en-US" sz="3149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Бақытжан Нұркелді, </a:t>
            </a:r>
          </a:p>
          <a:p>
            <a:pPr algn="l">
              <a:lnSpc>
                <a:spcPts val="4723"/>
              </a:lnSpc>
            </a:pPr>
            <a:r>
              <a:rPr lang="en-US" sz="3149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Косе Рамазанмираз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938992" y="7791154"/>
            <a:ext cx="4024323" cy="611221"/>
            <a:chOff x="0" y="0"/>
            <a:chExt cx="4201122" cy="6380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1160" cy="638048"/>
            </a:xfrm>
            <a:custGeom>
              <a:avLst/>
              <a:gdLst/>
              <a:ahLst/>
              <a:cxnLst/>
              <a:rect r="r" b="b" t="t" l="l"/>
              <a:pathLst>
                <a:path h="638048" w="4201160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4150741" y="0"/>
                  </a:lnTo>
                  <a:cubicBezTo>
                    <a:pt x="4178554" y="0"/>
                    <a:pt x="4201160" y="22606"/>
                    <a:pt x="4201160" y="50419"/>
                  </a:cubicBezTo>
                  <a:lnTo>
                    <a:pt x="4201160" y="587629"/>
                  </a:lnTo>
                  <a:cubicBezTo>
                    <a:pt x="4201160" y="615442"/>
                    <a:pt x="4178554" y="638048"/>
                    <a:pt x="4150741" y="638048"/>
                  </a:cubicBezTo>
                  <a:lnTo>
                    <a:pt x="50419" y="638048"/>
                  </a:lnTo>
                  <a:cubicBezTo>
                    <a:pt x="22606" y="638048"/>
                    <a:pt x="0" y="615569"/>
                    <a:pt x="0" y="58762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294" r="0" b="-78298"/>
              </a:stretch>
            </a:blipFill>
            <a:ln w="9532" cap="sq">
              <a:solidFill>
                <a:srgbClr val="2D2E34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8181537" y="7924901"/>
            <a:ext cx="4708014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18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КОМПЬЮТЕРНОЕ ЗРЕНИЕ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48219" y="7791154"/>
            <a:ext cx="3704552" cy="611221"/>
            <a:chOff x="0" y="0"/>
            <a:chExt cx="3867302" cy="6380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67277" cy="638048"/>
            </a:xfrm>
            <a:custGeom>
              <a:avLst/>
              <a:gdLst/>
              <a:ahLst/>
              <a:cxnLst/>
              <a:rect r="r" b="b" t="t" l="l"/>
              <a:pathLst>
                <a:path h="638048" w="3867277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3816858" y="0"/>
                  </a:lnTo>
                  <a:cubicBezTo>
                    <a:pt x="3844671" y="0"/>
                    <a:pt x="3867277" y="22606"/>
                    <a:pt x="3867277" y="50419"/>
                  </a:cubicBezTo>
                  <a:lnTo>
                    <a:pt x="3867277" y="587629"/>
                  </a:lnTo>
                  <a:cubicBezTo>
                    <a:pt x="3867277" y="615442"/>
                    <a:pt x="3844671" y="638048"/>
                    <a:pt x="3816858" y="638048"/>
                  </a:cubicBezTo>
                  <a:lnTo>
                    <a:pt x="50419" y="638048"/>
                  </a:lnTo>
                  <a:cubicBezTo>
                    <a:pt x="22606" y="638048"/>
                    <a:pt x="0" y="615569"/>
                    <a:pt x="0" y="58762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099" r="0" b="-68103"/>
              </a:stretch>
            </a:blipFill>
            <a:ln w="9532" cap="sq">
              <a:solidFill>
                <a:srgbClr val="2D2E34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390764" y="7924901"/>
            <a:ext cx="4388231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18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МАШИННОЕ ОБУЧЕНИЕ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938992" y="8587291"/>
            <a:ext cx="5253694" cy="671009"/>
            <a:chOff x="0" y="0"/>
            <a:chExt cx="4721428" cy="603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1479" cy="603004"/>
            </a:xfrm>
            <a:custGeom>
              <a:avLst/>
              <a:gdLst/>
              <a:ahLst/>
              <a:cxnLst/>
              <a:rect r="r" b="b" t="t" l="l"/>
              <a:pathLst>
                <a:path h="603004" w="4721479">
                  <a:moveTo>
                    <a:pt x="0" y="47650"/>
                  </a:moveTo>
                  <a:cubicBezTo>
                    <a:pt x="0" y="21364"/>
                    <a:pt x="22606" y="0"/>
                    <a:pt x="50419" y="0"/>
                  </a:cubicBezTo>
                  <a:lnTo>
                    <a:pt x="4671060" y="0"/>
                  </a:lnTo>
                  <a:cubicBezTo>
                    <a:pt x="4698873" y="0"/>
                    <a:pt x="4721479" y="21364"/>
                    <a:pt x="4721479" y="47650"/>
                  </a:cubicBezTo>
                  <a:lnTo>
                    <a:pt x="4721479" y="555354"/>
                  </a:lnTo>
                  <a:cubicBezTo>
                    <a:pt x="4721479" y="581639"/>
                    <a:pt x="4698873" y="603004"/>
                    <a:pt x="4671060" y="603004"/>
                  </a:cubicBezTo>
                  <a:lnTo>
                    <a:pt x="50419" y="603004"/>
                  </a:lnTo>
                  <a:cubicBezTo>
                    <a:pt x="22606" y="603004"/>
                    <a:pt x="0" y="581759"/>
                    <a:pt x="0" y="55535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657" r="1" b="-105472"/>
              </a:stretch>
            </a:blipFill>
            <a:ln w="9532" cap="sq">
              <a:solidFill>
                <a:srgbClr val="2D2E34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8242242" y="8754698"/>
            <a:ext cx="4666244" cy="3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18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ИНФОРМАЦИОННЫЕ </a:t>
            </a:r>
            <a:r>
              <a:rPr lang="en-US" sz="18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ТЕХНОЛОГИИ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7530631" y="1087865"/>
            <a:ext cx="9277521" cy="690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b="true" sz="4203" spc="-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Актуальность исследования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33912" y="3115589"/>
            <a:ext cx="5678156" cy="4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b="true" sz="2743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Масштаб проблемы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3912" y="3771126"/>
            <a:ext cx="10318121" cy="338123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625357" indent="-312678">
              <a:lnSpc>
                <a:spcPts val="4557"/>
              </a:lnSpc>
              <a:buFont typeface="Arial"/>
              <a:buChar char="•"/>
            </a:pPr>
            <a:r>
              <a:rPr sz="3452">
                <a:solidFill>
                  <a:srgbClr val="3D3838"/>
                </a:solidFill>
                <a:latin typeface="Source Sans 3"/>
              </a:rPr>
              <a:t>Инсульт: 11,9 млн новых случаев, 93,8 млн живущих</a:t>
            </a:r>
          </a:p>
          <a:p>
            <a:pPr/>
            <a:r>
              <a:rPr sz="3452">
                <a:solidFill>
                  <a:srgbClr val="3D3838"/>
                </a:solidFill>
                <a:latin typeface="Source Sans 3"/>
              </a:rPr>
              <a:t>ДЦП в KZ: 68,7–83,3 на 100 000; БАС: 10,1</a:t>
            </a:r>
          </a:p>
          <a:p>
            <a:pPr/>
            <a:r>
              <a:rPr sz="3452">
                <a:solidFill>
                  <a:srgbClr val="3D3838"/>
                </a:solidFill>
                <a:latin typeface="Source Sans 3"/>
              </a:rPr>
              <a:t>Switch-сканирование: лишь ~2,1 WPM</a:t>
            </a:r>
          </a:p>
          <a:p>
            <a:pPr/>
            <a:r>
              <a:rPr sz="3452">
                <a:solidFill>
                  <a:srgbClr val="3D3838"/>
                </a:solidFill>
                <a:latin typeface="Source Sans 3"/>
              </a:rPr>
              <a:t>Eye-tracking успешен в 93% случаев БАС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1362" y="4734185"/>
            <a:ext cx="6143039" cy="1919996"/>
            <a:chOff x="0" y="0"/>
            <a:chExt cx="8190719" cy="2559994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8190719" cy="2559994"/>
            </a:xfrm>
            <a:custGeom>
              <a:avLst/>
              <a:gdLst/>
              <a:ahLst/>
              <a:cxnLst/>
              <a:rect r="r" b="b" t="t" l="l"/>
              <a:pathLst>
                <a:path h="2559994" w="8190719">
                  <a:moveTo>
                    <a:pt x="0" y="0"/>
                  </a:moveTo>
                  <a:lnTo>
                    <a:pt x="8190719" y="0"/>
                  </a:lnTo>
                  <a:lnTo>
                    <a:pt x="8190719" y="2559994"/>
                  </a:lnTo>
                  <a:lnTo>
                    <a:pt x="0" y="25599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58" r="0" b="-57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 rot="0">
              <a:off x="714224" y="479833"/>
              <a:ext cx="6977630" cy="651409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l">
                <a:lnSpc>
                  <a:spcPts val="3703"/>
                </a:lnSpc>
              </a:pPr>
              <a:r>
                <a:rPr sz="2800" b="1">
                  <a:solidFill>
                    <a:srgbClr val="3D3838"/>
                  </a:solidFill>
                  <a:latin typeface="Montserrat Bold"/>
                </a:rPr>
                <a:t>Tobii Dynavox / PCEye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714224" y="1452904"/>
              <a:ext cx="6977630" cy="608226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l">
                <a:lnSpc>
                  <a:spcPts val="3357"/>
                </a:lnSpc>
              </a:pPr>
              <a:r>
                <a:rPr sz="2400">
                  <a:solidFill>
                    <a:srgbClr val="3D3838"/>
                  </a:solidFill>
                  <a:latin typeface="Source Sans 3"/>
                </a:rPr>
                <a:t>$6–20 тыс., PCEye £2–2,4 тыс.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26723" y="4527827"/>
            <a:ext cx="6303757" cy="2332713"/>
            <a:chOff x="0" y="0"/>
            <a:chExt cx="8405010" cy="311028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405010" cy="3110285"/>
            </a:xfrm>
            <a:custGeom>
              <a:avLst/>
              <a:gdLst/>
              <a:ahLst/>
              <a:cxnLst/>
              <a:rect r="r" b="b" t="t" l="l"/>
              <a:pathLst>
                <a:path h="3110285" w="8405010">
                  <a:moveTo>
                    <a:pt x="0" y="0"/>
                  </a:moveTo>
                  <a:lnTo>
                    <a:pt x="8405010" y="0"/>
                  </a:lnTo>
                  <a:lnTo>
                    <a:pt x="8405010" y="3110285"/>
                  </a:lnTo>
                  <a:lnTo>
                    <a:pt x="0" y="3110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131" t="0" r="-9131" b="0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 rot="0">
              <a:off x="732910" y="492885"/>
              <a:ext cx="7160184" cy="667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0"/>
                </a:lnSpc>
              </a:pPr>
              <a:r>
                <a:rPr lang="en-US" b="true" sz="3045" spc="-30">
                  <a:solidFill>
                    <a:srgbClr val="3D38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Кнопки-переключатели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32910" y="1481889"/>
              <a:ext cx="7160184" cy="1116480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l">
                <a:lnSpc>
                  <a:spcPts val="3445"/>
                </a:lnSpc>
              </a:pPr>
              <a:r>
                <a:rPr sz="2400">
                  <a:solidFill>
                    <a:srgbClr val="3D3838"/>
                  </a:solidFill>
                  <a:latin typeface="Source Sans 3"/>
                </a:rPr>
                <a:t>$50–200, ~2,1 WPM — медленно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726723" y="1235373"/>
            <a:ext cx="4215646" cy="3252070"/>
          </a:xfrm>
          <a:custGeom>
            <a:avLst/>
            <a:gdLst/>
            <a:ahLst/>
            <a:cxnLst/>
            <a:rect r="r" b="b" t="t" l="l"/>
            <a:pathLst>
              <a:path h="3252070" w="4215646">
                <a:moveTo>
                  <a:pt x="0" y="0"/>
                </a:moveTo>
                <a:lnTo>
                  <a:pt x="4215646" y="0"/>
                </a:lnTo>
                <a:lnTo>
                  <a:pt x="4215646" y="3252069"/>
                </a:lnTo>
                <a:lnTo>
                  <a:pt x="0" y="3252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651362" y="1013513"/>
            <a:ext cx="4016731" cy="3473930"/>
          </a:xfrm>
          <a:custGeom>
            <a:avLst/>
            <a:gdLst/>
            <a:ahLst/>
            <a:cxnLst/>
            <a:rect r="r" b="b" t="t" l="l"/>
            <a:pathLst>
              <a:path h="3473930" w="4016731">
                <a:moveTo>
                  <a:pt x="0" y="0"/>
                </a:moveTo>
                <a:lnTo>
                  <a:pt x="4016731" y="0"/>
                </a:lnTo>
                <a:lnTo>
                  <a:pt x="4016731" y="3473929"/>
                </a:lnTo>
                <a:lnTo>
                  <a:pt x="0" y="3473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732" t="-35410" r="-6325" b="-2653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5338308" y="241821"/>
            <a:ext cx="7264896" cy="6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b="true" sz="4203" spc="-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Существующие решения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5888" y="7335229"/>
            <a:ext cx="9440101" cy="53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b="true" sz="3509" spc="-3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5888" y="8188763"/>
            <a:ext cx="9440101" cy="146195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970"/>
              </a:lnSpc>
            </a:pPr>
            <a:r>
              <a:rPr sz="3008">
                <a:solidFill>
                  <a:srgbClr val="3D3838"/>
                </a:solidFill>
                <a:latin typeface="Source Sans 3"/>
              </a:rPr>
              <a:t>Ниша low-cost (&lt;$200) и KZ-локализации пуста. EyeConnect: школьный Pi 4B ($0) / тираж $89–189 + камера 720p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919448"/>
            <a:ext cx="16140713" cy="85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b="true" sz="5254" spc="-5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Научный аппарат исследования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0564" y="2466080"/>
            <a:ext cx="7711411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Цель исследования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564" y="3126381"/>
            <a:ext cx="7711411" cy="161042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296"/>
              </a:lnSpc>
            </a:pPr>
            <a:r>
              <a:rPr sz="2251">
                <a:solidFill>
                  <a:srgbClr val="3D3838"/>
                </a:solidFill>
                <a:latin typeface="Source Sans 3"/>
              </a:rPr>
              <a:t>Разработать и валидировать систему управления ПК взглядом: точность ≤2,0°, скорость ≥5 WPM, пилот n=10 с метриками WPM / TER / SUS.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564" y="5169122"/>
            <a:ext cx="7711411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Научная новизна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0564" y="5829424"/>
            <a:ext cx="7711411" cy="283021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07830" indent="-203915">
              <a:lnSpc>
                <a:spcPts val="3296"/>
              </a:lnSpc>
              <a:buFont typeface="Arial"/>
              <a:buChar char="•"/>
            </a:pPr>
            <a:r>
              <a:rPr sz="2251">
                <a:solidFill>
                  <a:srgbClr val="3D3838"/>
                </a:solidFill>
                <a:latin typeface="Source Sans 3"/>
              </a:rPr>
              <a:t>Poly2 RidgeCV vs RBF, выбор по LOO</a:t>
            </a:r>
          </a:p>
          <a:p>
            <a:pPr/>
            <a:r>
              <a:rPr sz="2251">
                <a:solidFill>
                  <a:srgbClr val="3D3838"/>
                </a:solidFill>
                <a:latin typeface="Source Sans 3"/>
              </a:rPr>
              <a:t>Предикт top-3 KZ/RU/EN, dwell 1000 мс</a:t>
            </a:r>
          </a:p>
          <a:p>
            <a:pPr/>
            <a:r>
              <a:rPr sz="2251">
                <a:solidFill>
                  <a:srgbClr val="3D3838"/>
                </a:solidFill>
                <a:latin typeface="Source Sans 3"/>
              </a:rPr>
              <a:t>EAR-wink + MagnetCursor (UIA-снап)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19399" y="2466080"/>
            <a:ext cx="7711411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Гипотезы исследования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19399" y="3209011"/>
            <a:ext cx="3715474" cy="2984697"/>
            <a:chOff x="0" y="0"/>
            <a:chExt cx="4953965" cy="3979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889" cy="3979545"/>
            </a:xfrm>
            <a:custGeom>
              <a:avLst/>
              <a:gdLst/>
              <a:ahLst/>
              <a:cxnLst/>
              <a:rect r="r" b="b" t="t" l="l"/>
              <a:pathLst>
                <a:path h="3979545" w="4953889">
                  <a:moveTo>
                    <a:pt x="0" y="58801"/>
                  </a:moveTo>
                  <a:cubicBezTo>
                    <a:pt x="0" y="26289"/>
                    <a:pt x="26289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289"/>
                    <a:pt x="4953889" y="58801"/>
                  </a:cubicBezTo>
                  <a:lnTo>
                    <a:pt x="4953889" y="3920744"/>
                  </a:lnTo>
                  <a:cubicBezTo>
                    <a:pt x="4953889" y="3953256"/>
                    <a:pt x="4927600" y="3979545"/>
                    <a:pt x="4895088" y="3979545"/>
                  </a:cubicBezTo>
                  <a:lnTo>
                    <a:pt x="58801" y="3979545"/>
                  </a:lnTo>
                  <a:cubicBezTo>
                    <a:pt x="26289" y="3979545"/>
                    <a:pt x="0" y="3953256"/>
                    <a:pt x="0" y="392074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p/>
          </p:txBody>
        </p:sp>
      </p:grpSp>
      <p:sp>
        <p:nvSpPr>
          <p:cNvPr name="TextBox 10" id="10"/>
          <p:cNvSpPr txBox="true"/>
          <p:nvPr/>
        </p:nvSpPr>
        <p:spPr>
          <a:xfrm rot="0">
            <a:off x="9813560" y="3493646"/>
            <a:ext cx="3127162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 — ML-маппинг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3560" y="4153948"/>
            <a:ext cx="3127162" cy="90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Точность выше линейного на ≥30%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515327" y="3209011"/>
            <a:ext cx="3715474" cy="2984697"/>
            <a:chOff x="0" y="0"/>
            <a:chExt cx="4953965" cy="39795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53889" cy="3979545"/>
            </a:xfrm>
            <a:custGeom>
              <a:avLst/>
              <a:gdLst/>
              <a:ahLst/>
              <a:cxnLst/>
              <a:rect r="r" b="b" t="t" l="l"/>
              <a:pathLst>
                <a:path h="3979545" w="4953889">
                  <a:moveTo>
                    <a:pt x="0" y="58801"/>
                  </a:moveTo>
                  <a:cubicBezTo>
                    <a:pt x="0" y="26289"/>
                    <a:pt x="26289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289"/>
                    <a:pt x="4953889" y="58801"/>
                  </a:cubicBezTo>
                  <a:lnTo>
                    <a:pt x="4953889" y="3920744"/>
                  </a:lnTo>
                  <a:cubicBezTo>
                    <a:pt x="4953889" y="3953256"/>
                    <a:pt x="4927600" y="3979545"/>
                    <a:pt x="4895088" y="3979545"/>
                  </a:cubicBezTo>
                  <a:lnTo>
                    <a:pt x="58801" y="3979545"/>
                  </a:lnTo>
                  <a:cubicBezTo>
                    <a:pt x="26289" y="3979545"/>
                    <a:pt x="0" y="3953256"/>
                    <a:pt x="0" y="392074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809488" y="3493646"/>
            <a:ext cx="3127162" cy="12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H₂ — Предиктивный ввод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09488" y="4989824"/>
            <a:ext cx="3127162" cy="90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Скорость набора текста выше на ≥40%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19399" y="6474171"/>
            <a:ext cx="3715474" cy="2566759"/>
            <a:chOff x="0" y="0"/>
            <a:chExt cx="4953965" cy="34223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889" cy="3422269"/>
            </a:xfrm>
            <a:custGeom>
              <a:avLst/>
              <a:gdLst/>
              <a:ahLst/>
              <a:cxnLst/>
              <a:rect r="r" b="b" t="t" l="l"/>
              <a:pathLst>
                <a:path h="3422269" w="4953889">
                  <a:moveTo>
                    <a:pt x="0" y="58801"/>
                  </a:moveTo>
                  <a:cubicBezTo>
                    <a:pt x="0" y="26416"/>
                    <a:pt x="26416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416"/>
                    <a:pt x="4953889" y="58801"/>
                  </a:cubicBezTo>
                  <a:lnTo>
                    <a:pt x="4953889" y="3363468"/>
                  </a:lnTo>
                  <a:cubicBezTo>
                    <a:pt x="4953889" y="3395980"/>
                    <a:pt x="4927473" y="3422269"/>
                    <a:pt x="4895088" y="3422269"/>
                  </a:cubicBezTo>
                  <a:lnTo>
                    <a:pt x="58801" y="3422269"/>
                  </a:lnTo>
                  <a:cubicBezTo>
                    <a:pt x="26289" y="3422269"/>
                    <a:pt x="0" y="3395853"/>
                    <a:pt x="0" y="336346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13560" y="6758807"/>
            <a:ext cx="3127162" cy="42746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278"/>
              </a:lnSpc>
            </a:pPr>
            <a:r>
              <a:rPr sz="2400" b="1">
                <a:solidFill>
                  <a:srgbClr val="3D3838"/>
                </a:solidFill>
                <a:latin typeface="Montserrat Bold"/>
              </a:rPr>
              <a:t>H₃ — EAR-детектор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3560" y="7419108"/>
            <a:ext cx="3127162" cy="90971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296"/>
              </a:lnSpc>
            </a:pPr>
            <a:r>
              <a:rPr sz="2300">
                <a:solidFill>
                  <a:srgbClr val="3D3838"/>
                </a:solidFill>
                <a:latin typeface="Source Sans 3"/>
              </a:rPr>
              <a:t>Меньше ложных кликов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515327" y="6474171"/>
            <a:ext cx="3715474" cy="2566759"/>
            <a:chOff x="0" y="0"/>
            <a:chExt cx="4953965" cy="34223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53889" cy="3422269"/>
            </a:xfrm>
            <a:custGeom>
              <a:avLst/>
              <a:gdLst/>
              <a:ahLst/>
              <a:cxnLst/>
              <a:rect r="r" b="b" t="t" l="l"/>
              <a:pathLst>
                <a:path h="3422269" w="4953889">
                  <a:moveTo>
                    <a:pt x="0" y="58801"/>
                  </a:moveTo>
                  <a:cubicBezTo>
                    <a:pt x="0" y="26416"/>
                    <a:pt x="26416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416"/>
                    <a:pt x="4953889" y="58801"/>
                  </a:cubicBezTo>
                  <a:lnTo>
                    <a:pt x="4953889" y="3363468"/>
                  </a:lnTo>
                  <a:cubicBezTo>
                    <a:pt x="4953889" y="3395980"/>
                    <a:pt x="4927473" y="3422269"/>
                    <a:pt x="4895088" y="3422269"/>
                  </a:cubicBezTo>
                  <a:lnTo>
                    <a:pt x="58801" y="3422269"/>
                  </a:lnTo>
                  <a:cubicBezTo>
                    <a:pt x="26289" y="3422269"/>
                    <a:pt x="0" y="3395853"/>
                    <a:pt x="0" y="336346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809488" y="6758807"/>
            <a:ext cx="3127162" cy="84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H₄ — Латентность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09488" y="7837046"/>
            <a:ext cx="3127162" cy="90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Не превышает 100 мс на Raspberry Pi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644" y="536715"/>
            <a:ext cx="16140713" cy="44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Методы и архитектура системы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9353" y="1585320"/>
            <a:ext cx="10742841" cy="5899635"/>
            <a:chOff x="0" y="0"/>
            <a:chExt cx="14323788" cy="78661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4323788" cy="7866180"/>
              <a:chOff x="0" y="0"/>
              <a:chExt cx="21343607" cy="11721248"/>
            </a:xfrm>
          </p:grpSpPr>
          <p:sp>
            <p:nvSpPr>
              <p:cNvPr name="Freeform 5" id="5" descr="preencoded.png"/>
              <p:cNvSpPr/>
              <p:nvPr/>
            </p:nvSpPr>
            <p:spPr>
              <a:xfrm flipH="false" flipV="false" rot="0">
                <a:off x="0" y="0"/>
                <a:ext cx="21343620" cy="11721273"/>
              </a:xfrm>
              <a:custGeom>
                <a:avLst/>
                <a:gdLst/>
                <a:ahLst/>
                <a:cxnLst/>
                <a:rect r="r" b="b" t="t" l="l"/>
                <a:pathLst>
                  <a:path h="11721273" w="21343620">
                    <a:moveTo>
                      <a:pt x="0" y="0"/>
                    </a:moveTo>
                    <a:lnTo>
                      <a:pt x="21343620" y="0"/>
                    </a:lnTo>
                    <a:lnTo>
                      <a:pt x="21343620" y="11721273"/>
                    </a:lnTo>
                    <a:lnTo>
                      <a:pt x="0" y="117212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3628" t="0" r="-13627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8448" y="6036849"/>
              <a:ext cx="4312973" cy="1034498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sz="2200" b="1">
                  <a:solidFill>
                    <a:srgbClr val="FFFFFF"/>
                  </a:solidFill>
                  <a:latin typeface="Montserrat Bold"/>
                </a:rPr>
                <a:t>Курсор + MagnetCursor-снап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448" y="4300733"/>
              <a:ext cx="5972872" cy="844775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l">
                <a:lnSpc>
                  <a:spcPts val="2543"/>
                </a:lnSpc>
              </a:pPr>
              <a:r>
                <a:rPr sz="2000" b="1">
                  <a:solidFill>
                    <a:srgbClr val="FFFFFF"/>
                  </a:solidFill>
                  <a:latin typeface="Montserrat Bold"/>
                </a:rPr>
                <a:t>Dwell 1000 мс + EAR → KZ/RU/EN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1195" y="2547138"/>
              <a:ext cx="5964425" cy="942369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l">
                <a:lnSpc>
                  <a:spcPts val="2811"/>
                </a:lnSpc>
              </a:pPr>
              <a:r>
                <a:rPr sz="2000" b="1">
                  <a:solidFill>
                    <a:srgbClr val="FFFFFF"/>
                  </a:solidFill>
                  <a:latin typeface="Montserrat Bold"/>
                </a:rPr>
                <a:t>FaceMesh / Iris → Poly2 / RBF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2315" y="766802"/>
              <a:ext cx="4898952" cy="580097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l">
                <a:lnSpc>
                  <a:spcPts val="3544"/>
                </a:lnSpc>
              </a:pPr>
              <a:r>
                <a:rPr sz="2400" b="1">
                  <a:solidFill>
                    <a:srgbClr val="FFFFFF"/>
                  </a:solidFill>
                  <a:latin typeface="Montserrat Bold"/>
                </a:rPr>
                <a:t>Веб-камера + Pi 4B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311042" y="3269023"/>
            <a:ext cx="3661449" cy="107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b="true" sz="3398" spc="-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Ключевые компоненты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8733" y="5224234"/>
            <a:ext cx="5746211" cy="41767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498"/>
              </a:lnSpc>
            </a:pPr>
            <a:r>
              <a:rPr sz="2600" b="1">
                <a:solidFill>
                  <a:srgbClr val="000000"/>
                </a:solidFill>
                <a:latin typeface="Montserrat Bold"/>
              </a:rPr>
              <a:t>Платформа и цена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68733" y="5868307"/>
            <a:ext cx="5746211" cy="108039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51271" indent="-225636">
              <a:lnSpc>
                <a:spcPts val="2810"/>
              </a:lnSpc>
              <a:buFont typeface="Arial"/>
              <a:buChar char="•"/>
            </a:pPr>
            <a:r>
              <a:rPr sz="2200">
                <a:solidFill>
                  <a:srgbClr val="3D3838"/>
                </a:solidFill>
                <a:latin typeface="Source Sans 3"/>
              </a:rPr>
              <a:t>Камера 720p + монитор</a:t>
            </a:r>
          </a:p>
          <a:p>
            <a:pPr/>
            <a:r>
              <a:rPr sz="2200">
                <a:solidFill>
                  <a:srgbClr val="3D3838"/>
                </a:solidFill>
                <a:latin typeface="Source Sans 3"/>
              </a:rPr>
              <a:t>Школьный Pi 4B — $0</a:t>
            </a:r>
          </a:p>
          <a:p>
            <a:pPr/>
            <a:r>
              <a:rPr sz="2200">
                <a:solidFill>
                  <a:srgbClr val="3D3838"/>
                </a:solidFill>
                <a:latin typeface="Source Sans 3"/>
              </a:rPr>
              <a:t>Тираж $89–189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61914" y="7303569"/>
            <a:ext cx="5746211" cy="808394"/>
            <a:chOff x="0" y="0"/>
            <a:chExt cx="3692832" cy="5195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92884" cy="519557"/>
            </a:xfrm>
            <a:custGeom>
              <a:avLst/>
              <a:gdLst/>
              <a:ahLst/>
              <a:cxnLst/>
              <a:rect r="r" b="b" t="t" l="l"/>
              <a:pathLst>
                <a:path h="519557" w="3692884">
                  <a:moveTo>
                    <a:pt x="0" y="30861"/>
                  </a:moveTo>
                  <a:cubicBezTo>
                    <a:pt x="0" y="13843"/>
                    <a:pt x="4864" y="0"/>
                    <a:pt x="10844" y="0"/>
                  </a:cubicBezTo>
                  <a:lnTo>
                    <a:pt x="3682006" y="0"/>
                  </a:lnTo>
                  <a:cubicBezTo>
                    <a:pt x="3687986" y="0"/>
                    <a:pt x="3692884" y="13843"/>
                    <a:pt x="3692884" y="30861"/>
                  </a:cubicBezTo>
                  <a:lnTo>
                    <a:pt x="3692884" y="488696"/>
                  </a:lnTo>
                  <a:cubicBezTo>
                    <a:pt x="3692884" y="505714"/>
                    <a:pt x="3687986" y="519557"/>
                    <a:pt x="3682006" y="519557"/>
                  </a:cubicBezTo>
                  <a:lnTo>
                    <a:pt x="10844" y="519557"/>
                  </a:lnTo>
                  <a:cubicBezTo>
                    <a:pt x="4864" y="519557"/>
                    <a:pt x="0" y="505714"/>
                    <a:pt x="0" y="488696"/>
                  </a:cubicBezTo>
                  <a:close/>
                </a:path>
              </a:pathLst>
            </a:custGeom>
            <a:solidFill>
              <a:srgbClr val="E4E4E7"/>
            </a:solidFill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324048" y="7313094"/>
            <a:ext cx="5935252" cy="72468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810"/>
              </a:lnSpc>
            </a:pPr>
            <a:r>
              <a:rPr sz="2200" b="1">
                <a:solidFill>
                  <a:srgbClr val="000000"/>
                </a:solidFill>
                <a:latin typeface="Source Sans 3 Bold"/>
              </a:rPr>
              <a:t>Итого $0 — против $279–$20 000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839610"/>
            <a:ext cx="16140713" cy="44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Результаты исследования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0564" y="1595438"/>
            <a:ext cx="8022098" cy="4333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962"/>
              </a:lnSpc>
            </a:pPr>
            <a:r>
              <a:rPr sz="3978" b="1">
                <a:solidFill>
                  <a:srgbClr val="3D3838"/>
                </a:solidFill>
                <a:latin typeface="Montserrat Bold"/>
              </a:rPr>
              <a:t>LOO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564" y="2163718"/>
            <a:ext cx="8022098" cy="21924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686"/>
              </a:lnSpc>
            </a:pPr>
            <a:r>
              <a:rPr sz="1351" b="1">
                <a:solidFill>
                  <a:srgbClr val="3D3838"/>
                </a:solidFill>
                <a:latin typeface="Montserrat Bold"/>
              </a:rPr>
              <a:t>H₁ — Маппинг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564" y="2438657"/>
            <a:ext cx="8022098" cy="16414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354"/>
              </a:lnSpc>
            </a:pPr>
            <a:r>
              <a:rPr sz="1200">
                <a:solidFill>
                  <a:srgbClr val="3D3838"/>
                </a:solidFill>
                <a:latin typeface="Source Sans 3"/>
              </a:rPr>
              <a:t>Poly vs RBF, выбор по LOO, цель ≤2,0°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99026" y="1595438"/>
            <a:ext cx="8022250" cy="4333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962"/>
              </a:lnSpc>
            </a:pPr>
            <a:r>
              <a:rPr sz="3978" b="1">
                <a:solidFill>
                  <a:srgbClr val="3D3838"/>
                </a:solidFill>
                <a:latin typeface="Montserrat Bold"/>
              </a:rPr>
              <a:t>top-3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99026" y="2163718"/>
            <a:ext cx="8022250" cy="21924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686"/>
              </a:lnSpc>
            </a:pPr>
            <a:r>
              <a:rPr sz="1351" b="1">
                <a:solidFill>
                  <a:srgbClr val="3D3838"/>
                </a:solidFill>
                <a:latin typeface="Montserrat Bold"/>
              </a:rPr>
              <a:t>H₂ — Предикт KZ/RU/EN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99026" y="2438657"/>
            <a:ext cx="8022250" cy="16414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354"/>
              </a:lnSpc>
            </a:pPr>
            <a:r>
              <a:rPr sz="1200">
                <a:solidFill>
                  <a:srgbClr val="3D3838"/>
                </a:solidFill>
                <a:latin typeface="Source Sans 3"/>
              </a:rPr>
              <a:t>PrefixPredictor + dwell 1000 мс, WPM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564" y="2910469"/>
            <a:ext cx="8022098" cy="4333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962"/>
              </a:lnSpc>
            </a:pPr>
            <a:r>
              <a:rPr sz="3978" b="1">
                <a:solidFill>
                  <a:srgbClr val="3D3838"/>
                </a:solidFill>
                <a:latin typeface="Montserrat Bold"/>
              </a:rPr>
              <a:t>EAR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564" y="3478749"/>
            <a:ext cx="8022098" cy="21924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686"/>
              </a:lnSpc>
            </a:pPr>
            <a:r>
              <a:rPr sz="1351" b="1">
                <a:solidFill>
                  <a:srgbClr val="3D3838"/>
                </a:solidFill>
                <a:latin typeface="Montserrat Bold"/>
              </a:rPr>
              <a:t>H₃ — Подмигивания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564" y="3753688"/>
            <a:ext cx="8022098" cy="16414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354"/>
              </a:lnSpc>
            </a:pPr>
            <a:r>
              <a:rPr sz="1200">
                <a:solidFill>
                  <a:srgbClr val="3D3838"/>
                </a:solidFill>
                <a:latin typeface="Source Sans 3"/>
              </a:rPr>
              <a:t>Порог + cooldown 0,8 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9026" y="2910469"/>
            <a:ext cx="8022250" cy="4333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962"/>
              </a:lnSpc>
            </a:pPr>
            <a:r>
              <a:rPr sz="3978" b="1">
                <a:solidFill>
                  <a:srgbClr val="3D3838"/>
                </a:solidFill>
                <a:latin typeface="Montserrat Bold"/>
              </a:rPr>
              <a:t>30 fps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99026" y="3478749"/>
            <a:ext cx="8022250" cy="21924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686"/>
              </a:lnSpc>
            </a:pPr>
            <a:r>
              <a:rPr sz="1351" b="1">
                <a:solidFill>
                  <a:srgbClr val="3D3838"/>
                </a:solidFill>
                <a:latin typeface="Montserrat Bold"/>
              </a:rPr>
              <a:t>H₄ — Пайплайн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99026" y="3753688"/>
            <a:ext cx="8022250" cy="16414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354"/>
              </a:lnSpc>
            </a:pPr>
            <a:r>
              <a:rPr sz="1200">
                <a:solidFill>
                  <a:srgbClr val="3D3838"/>
                </a:solidFill>
                <a:latin typeface="Source Sans 3"/>
              </a:rPr>
              <a:t>640×480, Pi 4B 10–15 FPS, SMOKE OK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564" y="4081824"/>
            <a:ext cx="7882090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b="true" sz="135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Сравнение методов маппинга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0564" y="4387901"/>
            <a:ext cx="7882090" cy="5673595"/>
            <a:chOff x="0" y="0"/>
            <a:chExt cx="10509453" cy="7564793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509504" cy="7564755"/>
            </a:xfrm>
            <a:custGeom>
              <a:avLst/>
              <a:gdLst/>
              <a:ahLst/>
              <a:cxnLst/>
              <a:rect r="r" b="b" t="t" l="l"/>
              <a:pathLst>
                <a:path h="7564755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7564755"/>
                  </a:lnTo>
                  <a:lnTo>
                    <a:pt x="0" y="7564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0" r="0" b="-60"/>
              </a:stretch>
            </a:blipFill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48711" y="4081824"/>
            <a:ext cx="7882090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b="true" sz="135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Скорость ввода текста (WPM)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48711" y="4387901"/>
            <a:ext cx="7882090" cy="5673595"/>
            <a:chOff x="0" y="0"/>
            <a:chExt cx="10509453" cy="756479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509504" cy="7564755"/>
            </a:xfrm>
            <a:custGeom>
              <a:avLst/>
              <a:gdLst/>
              <a:ahLst/>
              <a:cxnLst/>
              <a:rect r="r" b="b" t="t" l="l"/>
              <a:pathLst>
                <a:path h="7564755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7564755"/>
                  </a:lnTo>
                  <a:lnTo>
                    <a:pt x="0" y="7564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" r="0" b="-60"/>
              </a:stretch>
            </a:blipFill>
          </p:spPr>
          <p:txBody>
            <a:bodyPr/>
            <a:p/>
          </p:txBody>
        </p:sp>
      </p:grpSp>
      <p:sp>
        <p:nvSpPr>
          <p:cNvPr name="TextBox 21" id="21"/>
          <p:cNvSpPr txBox="true"/>
          <p:nvPr/>
        </p:nvSpPr>
        <p:spPr>
          <a:xfrm rot="0">
            <a:off x="9348711" y="10157860"/>
            <a:ext cx="8797185" cy="16414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354"/>
              </a:lnSpc>
            </a:pPr>
            <a:r>
              <a:rPr sz="1100">
                <a:solidFill>
                  <a:srgbClr val="3D3838"/>
                </a:solidFill>
                <a:latin typeface="Source Sans 3"/>
              </a:rPr>
              <a:t>Пилот n=10: WPM / углы / TER / SUS — дизайн готов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4809" y="-23827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080564" y="876405"/>
            <a:ext cx="9277521" cy="141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b="true" sz="4353" spc="-4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Выводы и практическая значимость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564" y="2773947"/>
            <a:ext cx="43386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Основные выводы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0564" y="3300336"/>
            <a:ext cx="4338647" cy="313750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339857" indent="-169929">
              <a:lnSpc>
                <a:spcPts val="2521"/>
              </a:lnSpc>
              <a:buFont typeface="Arial"/>
              <a:buChar char="•"/>
            </a:pPr>
            <a:r>
              <a:rPr sz="1876">
                <a:solidFill>
                  <a:srgbClr val="3D3838"/>
                </a:solidFill>
                <a:latin typeface="Source Sans 3"/>
              </a:rPr>
              <a:t>Конвейер собран: preview / calibrate / keyboard / cursor + webcam_check + SMOKE OK</a:t>
            </a:r>
          </a:p>
          <a:p>
            <a:pPr/>
            <a:r>
              <a:rPr sz="1876">
                <a:solidFill>
                  <a:srgbClr val="3D3838"/>
                </a:solidFill>
                <a:latin typeface="Source Sans 3"/>
              </a:rPr>
              <a:t>Маппер Poly+RBF auto-LOO + RANSAC + LOO-оценка в px/° (VALID_MAX 2,0°)</a:t>
            </a:r>
          </a:p>
          <a:p>
            <a:pPr/>
            <a:r>
              <a:rPr sz="1876">
                <a:solidFill>
                  <a:srgbClr val="3D3838"/>
                </a:solidFill>
                <a:latin typeface="Source Sans 3"/>
              </a:rPr>
              <a:t>Предикт KZ/RU/EN top-3 + dwell 1000 мс + SOS / LANG / пауза 3с</a:t>
            </a:r>
          </a:p>
          <a:p>
            <a:pPr/>
            <a:r>
              <a:rPr sz="1876">
                <a:solidFill>
                  <a:srgbClr val="3D3838"/>
                </a:solidFill>
                <a:latin typeface="Source Sans 3"/>
              </a:rPr>
              <a:t>Гибрид gaze (120/180) + магнит UIA + wink-клик в снапнутой точке</a:t>
            </a:r>
          </a:p>
          <a:p>
            <a:pPr/>
            <a:r>
              <a:rPr sz="1876">
                <a:solidFill>
                  <a:srgbClr val="3D3838"/>
                </a:solidFill>
                <a:latin typeface="Source Sans 3"/>
              </a:rPr>
              <a:t>Пилот n=10: WPM, точность (°), TER/CER/UER, SUS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28973" y="2773947"/>
            <a:ext cx="43386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Практическая значимость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28973" y="3353486"/>
            <a:ext cx="4338647" cy="1700651"/>
            <a:chOff x="0" y="0"/>
            <a:chExt cx="5784863" cy="2267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84850" cy="2267458"/>
            </a:xfrm>
            <a:custGeom>
              <a:avLst/>
              <a:gdLst/>
              <a:ahLst/>
              <a:cxnLst/>
              <a:rect r="r" b="b" t="t" l="l"/>
              <a:pathLst>
                <a:path h="2267458" w="578485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5735701" y="0"/>
                  </a:lnTo>
                  <a:cubicBezTo>
                    <a:pt x="5762879" y="0"/>
                    <a:pt x="5784850" y="21971"/>
                    <a:pt x="5784850" y="49149"/>
                  </a:cubicBezTo>
                  <a:lnTo>
                    <a:pt x="5784850" y="2218309"/>
                  </a:lnTo>
                  <a:cubicBezTo>
                    <a:pt x="5784850" y="2245487"/>
                    <a:pt x="5762879" y="2267458"/>
                    <a:pt x="5735701" y="2267458"/>
                  </a:cubicBezTo>
                  <a:lnTo>
                    <a:pt x="49149" y="2267458"/>
                  </a:lnTo>
                  <a:cubicBezTo>
                    <a:pt x="21971" y="2267458"/>
                    <a:pt x="0" y="2245487"/>
                    <a:pt x="0" y="221830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p/>
          </p:txBody>
        </p:sp>
      </p:grpSp>
      <p:sp>
        <p:nvSpPr>
          <p:cNvPr name="TextBox 10" id="10"/>
          <p:cNvSpPr txBox="true"/>
          <p:nvPr/>
        </p:nvSpPr>
        <p:spPr>
          <a:xfrm rot="0">
            <a:off x="6275022" y="3590020"/>
            <a:ext cx="3846547" cy="358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716"/>
              </a:lnSpc>
            </a:pPr>
            <a:r>
              <a:rPr sz="2176" b="1">
                <a:solidFill>
                  <a:srgbClr val="3D3838"/>
                </a:solidFill>
                <a:latin typeface="Montserrat Bold"/>
              </a:rPr>
              <a:t>Пилот $0 (школьный Pi 4B)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5022" y="4116400"/>
            <a:ext cx="3846547" cy="69167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521"/>
              </a:lnSpc>
            </a:pPr>
            <a:r>
              <a:rPr sz="1876">
                <a:solidFill>
                  <a:srgbClr val="3D3838"/>
                </a:solidFill>
                <a:latin typeface="Source Sans 3"/>
              </a:rPr>
              <a:t>Тираж $89–189 — дешевле $279–$20 000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028973" y="5250142"/>
            <a:ext cx="4338647" cy="2032197"/>
            <a:chOff x="0" y="0"/>
            <a:chExt cx="5784863" cy="27095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84850" cy="2709545"/>
            </a:xfrm>
            <a:custGeom>
              <a:avLst/>
              <a:gdLst/>
              <a:ahLst/>
              <a:cxnLst/>
              <a:rect r="r" b="b" t="t" l="l"/>
              <a:pathLst>
                <a:path h="2709545" w="578485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5735701" y="0"/>
                  </a:lnTo>
                  <a:cubicBezTo>
                    <a:pt x="5762879" y="0"/>
                    <a:pt x="5784850" y="21971"/>
                    <a:pt x="5784850" y="49149"/>
                  </a:cubicBezTo>
                  <a:lnTo>
                    <a:pt x="5784850" y="2660396"/>
                  </a:lnTo>
                  <a:cubicBezTo>
                    <a:pt x="5784850" y="2687574"/>
                    <a:pt x="5762879" y="2709545"/>
                    <a:pt x="5735701" y="2709545"/>
                  </a:cubicBezTo>
                  <a:lnTo>
                    <a:pt x="49149" y="2709545"/>
                  </a:lnTo>
                  <a:cubicBezTo>
                    <a:pt x="21971" y="2709545"/>
                    <a:pt x="0" y="2687574"/>
                    <a:pt x="0" y="2660396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6275022" y="5486676"/>
            <a:ext cx="38465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Доступность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75022" y="6013056"/>
            <a:ext cx="3846547" cy="102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Самостоятельное общение и управление ПК при тяжёлых моторных нарушениях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28973" y="7478354"/>
            <a:ext cx="4338647" cy="1700651"/>
            <a:chOff x="0" y="0"/>
            <a:chExt cx="5784863" cy="22675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84850" cy="2267458"/>
            </a:xfrm>
            <a:custGeom>
              <a:avLst/>
              <a:gdLst/>
              <a:ahLst/>
              <a:cxnLst/>
              <a:rect r="r" b="b" t="t" l="l"/>
              <a:pathLst>
                <a:path h="2267458" w="578485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5735701" y="0"/>
                  </a:lnTo>
                  <a:cubicBezTo>
                    <a:pt x="5762879" y="0"/>
                    <a:pt x="5784850" y="21971"/>
                    <a:pt x="5784850" y="49149"/>
                  </a:cubicBezTo>
                  <a:lnTo>
                    <a:pt x="5784850" y="2218309"/>
                  </a:lnTo>
                  <a:cubicBezTo>
                    <a:pt x="5784850" y="2245487"/>
                    <a:pt x="5762879" y="2267458"/>
                    <a:pt x="5735701" y="2267458"/>
                  </a:cubicBezTo>
                  <a:lnTo>
                    <a:pt x="49149" y="2267458"/>
                  </a:lnTo>
                  <a:cubicBezTo>
                    <a:pt x="21971" y="2267458"/>
                    <a:pt x="0" y="2245487"/>
                    <a:pt x="0" y="221830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75022" y="7714888"/>
            <a:ext cx="38465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Воспроизводимость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75022" y="8241268"/>
            <a:ext cx="3846547" cy="69167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521"/>
              </a:lnSpc>
            </a:pPr>
            <a:r>
              <a:rPr sz="1876">
                <a:solidFill>
                  <a:srgbClr val="3D3838"/>
                </a:solidFill>
                <a:latin typeface="Source Sans 3"/>
              </a:rPr>
              <a:t>RUN.md + requirements + gaze.npz: preview → calibrate → keyboard / cursor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DAHU9hZYCzw</dc:identifier>
  <dcterms:modified xsi:type="dcterms:W3CDTF">2011-08-01T06:04:30Z</dcterms:modified>
  <cp:revision>1</cp:revision>
  <dc:title>EyeConnect-Razrabotka-i-validaciya-nizkobyudzhetnoj-AI-sistemy-upravleniya-kompyuterom-s-pomoshyu-vz.pptx</dc:title>
</cp:coreProperties>
</file>