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serrat Bold" charset="1" panose="00000800000000000000"/>
      <p:regular r:id="rId16"/>
    </p:embeddedFont>
    <p:embeddedFont>
      <p:font typeface="Source Sans 3 Bold" charset="1" panose="020B0303030403020204"/>
      <p:regular r:id="rId17"/>
    </p:embeddedFont>
    <p:embeddedFont>
      <p:font typeface="Source Sans 3" charset="1" panose="020B0303030403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409857" y="153086"/>
            <a:ext cx="10188363" cy="432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b="true" sz="5479" spc="-5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EyeConnect: система управления компьютером взглядом для людей с огранниченной мобильностью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52003" y="5615609"/>
            <a:ext cx="9846218" cy="1746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149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Авторы:</a:t>
            </a: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 </a:t>
            </a:r>
          </a:p>
          <a:p>
            <a:pPr algn="l">
              <a:lnSpc>
                <a:spcPts val="4723"/>
              </a:lnSpc>
            </a:pP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Бақытжан Нұркелді, </a:t>
            </a:r>
          </a:p>
          <a:p>
            <a:pPr algn="l">
              <a:lnSpc>
                <a:spcPts val="4723"/>
              </a:lnSpc>
            </a:pPr>
            <a:r>
              <a:rPr lang="en-US" sz="3149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Косе Рамазанмираз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938992" y="7791154"/>
            <a:ext cx="4024323" cy="611221"/>
            <a:chOff x="0" y="0"/>
            <a:chExt cx="4201122" cy="6380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1160" cy="638048"/>
            </a:xfrm>
            <a:custGeom>
              <a:avLst/>
              <a:gdLst/>
              <a:ahLst/>
              <a:cxnLst/>
              <a:rect r="r" b="b" t="t" l="l"/>
              <a:pathLst>
                <a:path h="638048" w="4201160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4150741" y="0"/>
                  </a:lnTo>
                  <a:cubicBezTo>
                    <a:pt x="4178554" y="0"/>
                    <a:pt x="4201160" y="22606"/>
                    <a:pt x="4201160" y="50419"/>
                  </a:cubicBezTo>
                  <a:lnTo>
                    <a:pt x="4201160" y="587629"/>
                  </a:lnTo>
                  <a:cubicBezTo>
                    <a:pt x="4201160" y="615442"/>
                    <a:pt x="4178554" y="638048"/>
                    <a:pt x="4150741" y="638048"/>
                  </a:cubicBezTo>
                  <a:lnTo>
                    <a:pt x="50419" y="638048"/>
                  </a:lnTo>
                  <a:cubicBezTo>
                    <a:pt x="22606" y="638048"/>
                    <a:pt x="0" y="615569"/>
                    <a:pt x="0" y="58762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8294" r="0" b="-78298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8181537" y="7924901"/>
            <a:ext cx="4708014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96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КОМПЬЮТЕРНОЕ ЗРЕНИЕ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148219" y="7791154"/>
            <a:ext cx="3704552" cy="611221"/>
            <a:chOff x="0" y="0"/>
            <a:chExt cx="3867302" cy="6380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867277" cy="638048"/>
            </a:xfrm>
            <a:custGeom>
              <a:avLst/>
              <a:gdLst/>
              <a:ahLst/>
              <a:cxnLst/>
              <a:rect r="r" b="b" t="t" l="l"/>
              <a:pathLst>
                <a:path h="638048" w="3867277">
                  <a:moveTo>
                    <a:pt x="0" y="50419"/>
                  </a:moveTo>
                  <a:cubicBezTo>
                    <a:pt x="0" y="22606"/>
                    <a:pt x="22606" y="0"/>
                    <a:pt x="50419" y="0"/>
                  </a:cubicBezTo>
                  <a:lnTo>
                    <a:pt x="3816858" y="0"/>
                  </a:lnTo>
                  <a:cubicBezTo>
                    <a:pt x="3844671" y="0"/>
                    <a:pt x="3867277" y="22606"/>
                    <a:pt x="3867277" y="50419"/>
                  </a:cubicBezTo>
                  <a:lnTo>
                    <a:pt x="3867277" y="587629"/>
                  </a:lnTo>
                  <a:cubicBezTo>
                    <a:pt x="3867277" y="615442"/>
                    <a:pt x="3844671" y="638048"/>
                    <a:pt x="3816858" y="638048"/>
                  </a:cubicBezTo>
                  <a:lnTo>
                    <a:pt x="50419" y="638048"/>
                  </a:lnTo>
                  <a:cubicBezTo>
                    <a:pt x="22606" y="638048"/>
                    <a:pt x="0" y="615569"/>
                    <a:pt x="0" y="587629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099" r="0" b="-68103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390764" y="7924901"/>
            <a:ext cx="4388231" cy="353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96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МАШИННОЕ ОБУЧЕНИЕ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938992" y="8587291"/>
            <a:ext cx="5253694" cy="671009"/>
            <a:chOff x="0" y="0"/>
            <a:chExt cx="4721428" cy="6030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21479" cy="603004"/>
            </a:xfrm>
            <a:custGeom>
              <a:avLst/>
              <a:gdLst/>
              <a:ahLst/>
              <a:cxnLst/>
              <a:rect r="r" b="b" t="t" l="l"/>
              <a:pathLst>
                <a:path h="603004" w="4721479">
                  <a:moveTo>
                    <a:pt x="0" y="47650"/>
                  </a:moveTo>
                  <a:cubicBezTo>
                    <a:pt x="0" y="21364"/>
                    <a:pt x="22606" y="0"/>
                    <a:pt x="50419" y="0"/>
                  </a:cubicBezTo>
                  <a:lnTo>
                    <a:pt x="4671060" y="0"/>
                  </a:lnTo>
                  <a:cubicBezTo>
                    <a:pt x="4698873" y="0"/>
                    <a:pt x="4721479" y="21364"/>
                    <a:pt x="4721479" y="47650"/>
                  </a:cubicBezTo>
                  <a:lnTo>
                    <a:pt x="4721479" y="555354"/>
                  </a:lnTo>
                  <a:cubicBezTo>
                    <a:pt x="4721479" y="581639"/>
                    <a:pt x="4698873" y="603004"/>
                    <a:pt x="4671060" y="603004"/>
                  </a:cubicBezTo>
                  <a:lnTo>
                    <a:pt x="50419" y="603004"/>
                  </a:lnTo>
                  <a:cubicBezTo>
                    <a:pt x="22606" y="603004"/>
                    <a:pt x="0" y="581759"/>
                    <a:pt x="0" y="555354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657" r="1" b="-105472"/>
              </a:stretch>
            </a:blipFill>
            <a:ln w="9532" cap="sq">
              <a:solidFill>
                <a:srgbClr val="2D2E34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8242242" y="8754698"/>
            <a:ext cx="4666244" cy="3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96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ИНФОРМАЦИОННЫЕ </a:t>
            </a:r>
            <a:r>
              <a:rPr lang="en-US" sz="2396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ТЕХНОЛОГИИ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530631" y="1087865"/>
            <a:ext cx="9277521" cy="690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b="true" sz="4203" spc="-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Актуальность исследования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33912" y="3115589"/>
            <a:ext cx="5678156" cy="45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3"/>
              </a:lnSpc>
            </a:pPr>
            <a:r>
              <a:rPr lang="en-US" b="true" sz="2743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Масштаб проблемы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33912" y="3771126"/>
            <a:ext cx="10318121" cy="338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57" indent="-312678" lvl="1">
              <a:lnSpc>
                <a:spcPts val="4557"/>
              </a:lnSpc>
              <a:buFont typeface="Arial"/>
              <a:buChar char="•"/>
            </a:pPr>
            <a:r>
              <a:rPr lang="en-US" sz="345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50 млн человек в мире с ДЦП</a:t>
            </a:r>
          </a:p>
          <a:p>
            <a:pPr algn="l" marL="625357" indent="-312678" lvl="1">
              <a:lnSpc>
                <a:spcPts val="4557"/>
              </a:lnSpc>
              <a:buFont typeface="Arial"/>
              <a:buChar char="•"/>
            </a:pPr>
            <a:r>
              <a:rPr lang="en-US" sz="345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~725 000 людей с инвалидностью в Казахстане</a:t>
            </a:r>
          </a:p>
          <a:p>
            <a:pPr algn="l" marL="625357" indent="-312678" lvl="1">
              <a:lnSpc>
                <a:spcPts val="4557"/>
              </a:lnSpc>
              <a:buFont typeface="Arial"/>
              <a:buChar char="•"/>
            </a:pPr>
            <a:r>
              <a:rPr lang="en-US" sz="345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~30 000–40 000 с тяжёлыми моторными нарушениями</a:t>
            </a:r>
          </a:p>
          <a:p>
            <a:pPr algn="l" marL="625357" indent="-312678" lvl="1">
              <a:lnSpc>
                <a:spcPts val="4557"/>
              </a:lnSpc>
              <a:buFont typeface="Arial"/>
              <a:buChar char="•"/>
            </a:pPr>
            <a:r>
              <a:rPr lang="en-US" sz="345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Менее 1% нуждающихся получают ассистивные технологии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1362" y="4734185"/>
            <a:ext cx="6143039" cy="1919996"/>
            <a:chOff x="0" y="0"/>
            <a:chExt cx="8190719" cy="2559994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8190719" cy="2559994"/>
            </a:xfrm>
            <a:custGeom>
              <a:avLst/>
              <a:gdLst/>
              <a:ahLst/>
              <a:cxnLst/>
              <a:rect r="r" b="b" t="t" l="l"/>
              <a:pathLst>
                <a:path h="2559994" w="8190719">
                  <a:moveTo>
                    <a:pt x="0" y="0"/>
                  </a:moveTo>
                  <a:lnTo>
                    <a:pt x="8190719" y="0"/>
                  </a:lnTo>
                  <a:lnTo>
                    <a:pt x="8190719" y="2559994"/>
                  </a:lnTo>
                  <a:lnTo>
                    <a:pt x="0" y="25599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-58" r="0" b="-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714224" y="479833"/>
              <a:ext cx="6977630" cy="6514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03"/>
                </a:lnSpc>
              </a:pPr>
              <a:r>
                <a:rPr lang="en-US" b="true" sz="2967" spc="-29">
                  <a:solidFill>
                    <a:srgbClr val="3D38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Tobii Dynavox TD I-16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714224" y="1452904"/>
              <a:ext cx="6977630" cy="6082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7"/>
                </a:lnSpc>
              </a:pPr>
              <a:r>
                <a:rPr lang="en-US" sz="2543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$20 000 — недоступна в Казахстане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726723" y="4527827"/>
            <a:ext cx="6303757" cy="2332713"/>
            <a:chOff x="0" y="0"/>
            <a:chExt cx="8405010" cy="3110285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8405010" cy="3110285"/>
            </a:xfrm>
            <a:custGeom>
              <a:avLst/>
              <a:gdLst/>
              <a:ahLst/>
              <a:cxnLst/>
              <a:rect r="r" b="b" t="t" l="l"/>
              <a:pathLst>
                <a:path h="3110285" w="8405010">
                  <a:moveTo>
                    <a:pt x="0" y="0"/>
                  </a:moveTo>
                  <a:lnTo>
                    <a:pt x="8405010" y="0"/>
                  </a:lnTo>
                  <a:lnTo>
                    <a:pt x="8405010" y="3110285"/>
                  </a:lnTo>
                  <a:lnTo>
                    <a:pt x="0" y="3110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-9131" t="0" r="-9131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732910" y="492885"/>
              <a:ext cx="7160184" cy="6679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00"/>
                </a:lnSpc>
              </a:pPr>
              <a:r>
                <a:rPr lang="en-US" b="true" sz="3045" spc="-30">
                  <a:solidFill>
                    <a:srgbClr val="3D3838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Кнопки-переключатели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32910" y="1481889"/>
              <a:ext cx="7160184" cy="1116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5"/>
                </a:lnSpc>
              </a:pPr>
              <a:r>
                <a:rPr lang="en-US" sz="2610">
                  <a:solidFill>
                    <a:srgbClr val="3D3838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$50–200 — медленно и не всем подходит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726723" y="1235373"/>
            <a:ext cx="4215646" cy="3252070"/>
          </a:xfrm>
          <a:custGeom>
            <a:avLst/>
            <a:gdLst/>
            <a:ahLst/>
            <a:cxnLst/>
            <a:rect r="r" b="b" t="t" l="l"/>
            <a:pathLst>
              <a:path h="3252070" w="4215646">
                <a:moveTo>
                  <a:pt x="0" y="0"/>
                </a:moveTo>
                <a:lnTo>
                  <a:pt x="4215646" y="0"/>
                </a:lnTo>
                <a:lnTo>
                  <a:pt x="4215646" y="3252069"/>
                </a:lnTo>
                <a:lnTo>
                  <a:pt x="0" y="32520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51362" y="1013513"/>
            <a:ext cx="4016731" cy="3473930"/>
          </a:xfrm>
          <a:custGeom>
            <a:avLst/>
            <a:gdLst/>
            <a:ahLst/>
            <a:cxnLst/>
            <a:rect r="r" b="b" t="t" l="l"/>
            <a:pathLst>
              <a:path h="3473930" w="4016731">
                <a:moveTo>
                  <a:pt x="0" y="0"/>
                </a:moveTo>
                <a:lnTo>
                  <a:pt x="4016731" y="0"/>
                </a:lnTo>
                <a:lnTo>
                  <a:pt x="4016731" y="3473929"/>
                </a:lnTo>
                <a:lnTo>
                  <a:pt x="0" y="3473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732" t="-35410" r="-6325" b="-2653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38308" y="241821"/>
            <a:ext cx="7264896" cy="65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5"/>
              </a:lnSpc>
            </a:pPr>
            <a:r>
              <a:rPr lang="en-US" b="true" sz="4203" spc="-4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Существующие решения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5888" y="7335229"/>
            <a:ext cx="9440101" cy="538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9"/>
              </a:lnSpc>
            </a:pPr>
            <a:r>
              <a:rPr lang="en-US" b="true" sz="3509" spc="-3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Проблема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5888" y="8188763"/>
            <a:ext cx="9440101" cy="146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3008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Существующие системы недоступны большинству пользователей из-за высокой стоимости. А бюджетые решения имеют ограниченный функционал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919448"/>
            <a:ext cx="16140713" cy="855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7"/>
              </a:lnSpc>
            </a:pPr>
            <a:r>
              <a:rPr lang="en-US" b="true" sz="5254" spc="-5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Научный аппарат исследования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2466080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Цель исследования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564" y="3126381"/>
            <a:ext cx="7711411" cy="1610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Разработать и валидировать низкобюджетную систему управления компьютером с помощью взгляда, сравнить эффективность ML-подходов к калибровке и оценить влияние предиктивного ввода на скорость набора текста.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5169122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Научная новизна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564" y="5829424"/>
            <a:ext cx="7711411" cy="2830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Впервые сравниваются линейный, ML и адаптивный ML маппинг для eye tracking на MediaPipe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Впервые разработан предиктивный ввод текста на </a:t>
            </a:r>
            <a:r>
              <a:rPr lang="en-US" b="true" sz="225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казахском языке</a:t>
            </a: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для управления взглядом</a:t>
            </a:r>
          </a:p>
          <a:p>
            <a:pPr algn="l" marL="407830" indent="-203915" lvl="1">
              <a:lnSpc>
                <a:spcPts val="3296"/>
              </a:lnSpc>
              <a:buFont typeface="Arial"/>
              <a:buChar char="•"/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Впервые применён RL для адаптации детектора моргания к индивидуальным паттернам пользователя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19399" y="2466080"/>
            <a:ext cx="7711411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Гипотезы исследования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19399" y="3209011"/>
            <a:ext cx="3715474" cy="2984697"/>
            <a:chOff x="0" y="0"/>
            <a:chExt cx="4953965" cy="39795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3889" cy="3979545"/>
            </a:xfrm>
            <a:custGeom>
              <a:avLst/>
              <a:gdLst/>
              <a:ahLst/>
              <a:cxnLst/>
              <a:rect r="r" b="b" t="t" l="l"/>
              <a:pathLst>
                <a:path h="3979545" w="4953889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289"/>
                    <a:pt x="4953889" y="58801"/>
                  </a:cubicBezTo>
                  <a:lnTo>
                    <a:pt x="4953889" y="3920744"/>
                  </a:lnTo>
                  <a:cubicBezTo>
                    <a:pt x="4953889" y="3953256"/>
                    <a:pt x="4927600" y="3979545"/>
                    <a:pt x="4895088" y="3979545"/>
                  </a:cubicBezTo>
                  <a:lnTo>
                    <a:pt x="58801" y="3979545"/>
                  </a:lnTo>
                  <a:cubicBezTo>
                    <a:pt x="26289" y="3979545"/>
                    <a:pt x="0" y="3953256"/>
                    <a:pt x="0" y="39207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813560" y="3493646"/>
            <a:ext cx="3127162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 — ML-маппинг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13560" y="4153948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Точность выше линейного на ≥30%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515327" y="3209011"/>
            <a:ext cx="3715474" cy="2984697"/>
            <a:chOff x="0" y="0"/>
            <a:chExt cx="4953965" cy="3979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53889" cy="3979545"/>
            </a:xfrm>
            <a:custGeom>
              <a:avLst/>
              <a:gdLst/>
              <a:ahLst/>
              <a:cxnLst/>
              <a:rect r="r" b="b" t="t" l="l"/>
              <a:pathLst>
                <a:path h="3979545" w="4953889">
                  <a:moveTo>
                    <a:pt x="0" y="58801"/>
                  </a:moveTo>
                  <a:cubicBezTo>
                    <a:pt x="0" y="26289"/>
                    <a:pt x="26289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289"/>
                    <a:pt x="4953889" y="58801"/>
                  </a:cubicBezTo>
                  <a:lnTo>
                    <a:pt x="4953889" y="3920744"/>
                  </a:lnTo>
                  <a:cubicBezTo>
                    <a:pt x="4953889" y="3953256"/>
                    <a:pt x="4927600" y="3979545"/>
                    <a:pt x="4895088" y="3979545"/>
                  </a:cubicBezTo>
                  <a:lnTo>
                    <a:pt x="58801" y="3979545"/>
                  </a:lnTo>
                  <a:cubicBezTo>
                    <a:pt x="26289" y="3979545"/>
                    <a:pt x="0" y="3953256"/>
                    <a:pt x="0" y="39207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809488" y="3493646"/>
            <a:ext cx="3127162" cy="1263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 — Предиктивный ввод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09488" y="4989824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Скорость набора текста выше на ≥40%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519399" y="6474171"/>
            <a:ext cx="3715474" cy="2566759"/>
            <a:chOff x="0" y="0"/>
            <a:chExt cx="4953965" cy="34223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953889" cy="3422269"/>
            </a:xfrm>
            <a:custGeom>
              <a:avLst/>
              <a:gdLst/>
              <a:ahLst/>
              <a:cxnLst/>
              <a:rect r="r" b="b" t="t" l="l"/>
              <a:pathLst>
                <a:path h="3422269" w="4953889">
                  <a:moveTo>
                    <a:pt x="0" y="58801"/>
                  </a:moveTo>
                  <a:cubicBezTo>
                    <a:pt x="0" y="26416"/>
                    <a:pt x="26416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416"/>
                    <a:pt x="4953889" y="58801"/>
                  </a:cubicBezTo>
                  <a:lnTo>
                    <a:pt x="4953889" y="3363468"/>
                  </a:lnTo>
                  <a:cubicBezTo>
                    <a:pt x="4953889" y="3395980"/>
                    <a:pt x="4927473" y="3422269"/>
                    <a:pt x="4895088" y="3422269"/>
                  </a:cubicBezTo>
                  <a:lnTo>
                    <a:pt x="58801" y="3422269"/>
                  </a:lnTo>
                  <a:cubicBezTo>
                    <a:pt x="26289" y="3422269"/>
                    <a:pt x="0" y="3395853"/>
                    <a:pt x="0" y="336346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13560" y="6758807"/>
            <a:ext cx="3127162" cy="427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H₃ — RL-детектор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3560" y="7419108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Ложные клики снижены на ≥60%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515327" y="6474171"/>
            <a:ext cx="3715474" cy="2566759"/>
            <a:chOff x="0" y="0"/>
            <a:chExt cx="4953965" cy="34223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53889" cy="3422269"/>
            </a:xfrm>
            <a:custGeom>
              <a:avLst/>
              <a:gdLst/>
              <a:ahLst/>
              <a:cxnLst/>
              <a:rect r="r" b="b" t="t" l="l"/>
              <a:pathLst>
                <a:path h="3422269" w="4953889">
                  <a:moveTo>
                    <a:pt x="0" y="58801"/>
                  </a:moveTo>
                  <a:cubicBezTo>
                    <a:pt x="0" y="26416"/>
                    <a:pt x="26416" y="0"/>
                    <a:pt x="58801" y="0"/>
                  </a:cubicBezTo>
                  <a:lnTo>
                    <a:pt x="4895088" y="0"/>
                  </a:lnTo>
                  <a:cubicBezTo>
                    <a:pt x="4927600" y="0"/>
                    <a:pt x="4953889" y="26416"/>
                    <a:pt x="4953889" y="58801"/>
                  </a:cubicBezTo>
                  <a:lnTo>
                    <a:pt x="4953889" y="3363468"/>
                  </a:lnTo>
                  <a:cubicBezTo>
                    <a:pt x="4953889" y="3395980"/>
                    <a:pt x="4927473" y="3422269"/>
                    <a:pt x="4895088" y="3422269"/>
                  </a:cubicBezTo>
                  <a:lnTo>
                    <a:pt x="58801" y="3422269"/>
                  </a:lnTo>
                  <a:cubicBezTo>
                    <a:pt x="26289" y="3422269"/>
                    <a:pt x="0" y="3395853"/>
                    <a:pt x="0" y="336346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809488" y="6758807"/>
            <a:ext cx="3127162" cy="84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8"/>
              </a:lnSpc>
            </a:pPr>
            <a:r>
              <a:rPr lang="en-US" b="true" sz="2627" spc="-27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 — Латентность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09488" y="7837046"/>
            <a:ext cx="3127162" cy="909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225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Не превышает 100 мс на Raspberry Pi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644" y="536715"/>
            <a:ext cx="16140713" cy="44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Методы и архитектура системы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9353" y="1585320"/>
            <a:ext cx="10742841" cy="5899635"/>
            <a:chOff x="0" y="0"/>
            <a:chExt cx="14323788" cy="786618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4323788" cy="7866180"/>
              <a:chOff x="0" y="0"/>
              <a:chExt cx="21343607" cy="11721248"/>
            </a:xfrm>
          </p:grpSpPr>
          <p:sp>
            <p:nvSpPr>
              <p:cNvPr name="Freeform 5" id="5" descr="preencoded.png"/>
              <p:cNvSpPr/>
              <p:nvPr/>
            </p:nvSpPr>
            <p:spPr>
              <a:xfrm flipH="false" flipV="false" rot="0">
                <a:off x="0" y="0"/>
                <a:ext cx="21343620" cy="11721273"/>
              </a:xfrm>
              <a:custGeom>
                <a:avLst/>
                <a:gdLst/>
                <a:ahLst/>
                <a:cxnLst/>
                <a:rect r="r" b="b" t="t" l="l"/>
                <a:pathLst>
                  <a:path h="11721273" w="21343620">
                    <a:moveTo>
                      <a:pt x="0" y="0"/>
                    </a:moveTo>
                    <a:lnTo>
                      <a:pt x="21343620" y="0"/>
                    </a:lnTo>
                    <a:lnTo>
                      <a:pt x="21343620" y="11721273"/>
                    </a:lnTo>
                    <a:lnTo>
                      <a:pt x="0" y="1172127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13628" t="0" r="-13627" b="0"/>
                </a:stretch>
              </a:blipFill>
            </p:spPr>
          </p:sp>
        </p:grpSp>
        <p:sp>
          <p:nvSpPr>
            <p:cNvPr name="TextBox 6" id="6"/>
            <p:cNvSpPr txBox="true"/>
            <p:nvPr/>
          </p:nvSpPr>
          <p:spPr>
            <a:xfrm rot="0">
              <a:off x="8448" y="6036849"/>
              <a:ext cx="4312973" cy="103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b="true" sz="2500" spc="-25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Управления компьютером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8448" y="4300733"/>
              <a:ext cx="5972872" cy="844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3"/>
                </a:lnSpc>
              </a:pPr>
              <a:r>
                <a:rPr lang="en-US" b="true" sz="2037" spc="-2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Направление указателя мыши по направлению взгляда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31195" y="2547138"/>
              <a:ext cx="5964425" cy="942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11"/>
                </a:lnSpc>
              </a:pPr>
              <a:r>
                <a:rPr lang="en-US" b="true" sz="2252" spc="-22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Считыание движения и направления глаз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2315" y="766802"/>
              <a:ext cx="4898952" cy="5800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lang="en-US" b="true" sz="2840" spc="-28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Веб-камера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311042" y="3269023"/>
            <a:ext cx="3661449" cy="107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1"/>
              </a:lnSpc>
            </a:pPr>
            <a:r>
              <a:rPr lang="en-US" b="true" sz="3398" spc="-3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Ключевые компоненты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8733" y="5224234"/>
            <a:ext cx="5746211" cy="417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b="true" sz="2803" spc="-2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Оборудование (~$7)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68733" y="5868307"/>
            <a:ext cx="5746211" cy="1080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1271" indent="-225636" lvl="1">
              <a:lnSpc>
                <a:spcPts val="2810"/>
              </a:lnSpc>
              <a:buFont typeface="Arial"/>
              <a:buChar char="•"/>
            </a:pPr>
            <a:r>
              <a:rPr lang="en-US" sz="249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USB-камера 720p</a:t>
            </a:r>
          </a:p>
          <a:p>
            <a:pPr algn="l" marL="451271" indent="-225636" lvl="1">
              <a:lnSpc>
                <a:spcPts val="2810"/>
              </a:lnSpc>
              <a:buFont typeface="Arial"/>
              <a:buChar char="•"/>
            </a:pPr>
            <a:r>
              <a:rPr lang="en-US" sz="249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Монитор</a:t>
            </a:r>
          </a:p>
          <a:p>
            <a:pPr algn="l" marL="451271" indent="-225636" lvl="1">
              <a:lnSpc>
                <a:spcPts val="2810"/>
              </a:lnSpc>
              <a:buFont typeface="Arial"/>
              <a:buChar char="•"/>
            </a:pPr>
            <a:r>
              <a:rPr lang="en-US" sz="249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3D-печатный кронштейн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61914" y="7303569"/>
            <a:ext cx="5746211" cy="808394"/>
            <a:chOff x="0" y="0"/>
            <a:chExt cx="3692832" cy="5195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92884" cy="519557"/>
            </a:xfrm>
            <a:custGeom>
              <a:avLst/>
              <a:gdLst/>
              <a:ahLst/>
              <a:cxnLst/>
              <a:rect r="r" b="b" t="t" l="l"/>
              <a:pathLst>
                <a:path h="519557" w="3692884">
                  <a:moveTo>
                    <a:pt x="0" y="30861"/>
                  </a:moveTo>
                  <a:cubicBezTo>
                    <a:pt x="0" y="13843"/>
                    <a:pt x="4864" y="0"/>
                    <a:pt x="10844" y="0"/>
                  </a:cubicBezTo>
                  <a:lnTo>
                    <a:pt x="3682006" y="0"/>
                  </a:lnTo>
                  <a:cubicBezTo>
                    <a:pt x="3687986" y="0"/>
                    <a:pt x="3692884" y="13843"/>
                    <a:pt x="3692884" y="30861"/>
                  </a:cubicBezTo>
                  <a:lnTo>
                    <a:pt x="3692884" y="488696"/>
                  </a:lnTo>
                  <a:cubicBezTo>
                    <a:pt x="3692884" y="505714"/>
                    <a:pt x="3687986" y="519557"/>
                    <a:pt x="3682006" y="519557"/>
                  </a:cubicBezTo>
                  <a:lnTo>
                    <a:pt x="10844" y="519557"/>
                  </a:lnTo>
                  <a:cubicBezTo>
                    <a:pt x="4864" y="519557"/>
                    <a:pt x="0" y="505714"/>
                    <a:pt x="0" y="488696"/>
                  </a:cubicBezTo>
                  <a:close/>
                </a:path>
              </a:pathLst>
            </a:custGeom>
            <a:solidFill>
              <a:srgbClr val="E4E4E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324048" y="7313094"/>
            <a:ext cx="5935252" cy="724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491" b="true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Итого: ~$7</a:t>
            </a:r>
            <a:r>
              <a:rPr lang="en-US" sz="249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против $1 250–$20 000 у коммерческих аналогов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0564" y="839610"/>
            <a:ext cx="16140713" cy="448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b="true" sz="2702" spc="-27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Результаты исследования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80564" y="1595438"/>
            <a:ext cx="8022098" cy="43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b="true" sz="3978" spc="-4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57%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564" y="2163718"/>
            <a:ext cx="8022098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b="true" sz="1351" spc="-13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H₁ — Точность ML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2438657"/>
            <a:ext cx="8022098" cy="1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4.2° → 1.8° (p &lt; 0.01) </a:t>
            </a:r>
            <a:r>
              <a:rPr lang="en-US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99026" y="1595438"/>
            <a:ext cx="8022250" cy="43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b="true" sz="3978" spc="-4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113%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99026" y="2163718"/>
            <a:ext cx="802225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b="true" sz="1351" spc="-13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H₂ — Скорость ввода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99026" y="2438657"/>
            <a:ext cx="8022250" cy="1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3.8 → 8.1 WPM (p &lt; 0.01) </a:t>
            </a:r>
            <a:r>
              <a:rPr lang="en-US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0564" y="2910469"/>
            <a:ext cx="8022098" cy="43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b="true" sz="3978" spc="-4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77%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0564" y="3478749"/>
            <a:ext cx="8022098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b="true" sz="1351" spc="-13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H₃ — Ложные клики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564" y="3753688"/>
            <a:ext cx="8022098" cy="1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18% → 4.2% (p &lt; 0.01) </a:t>
            </a:r>
            <a:r>
              <a:rPr lang="en-US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99026" y="2910469"/>
            <a:ext cx="8022250" cy="43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b="true" sz="3978" spc="-4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87мс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99026" y="3478749"/>
            <a:ext cx="802225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6"/>
              </a:lnSpc>
            </a:pPr>
            <a:r>
              <a:rPr lang="en-US" b="true" sz="1351" spc="-13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H₄ — Латентность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99026" y="3753688"/>
            <a:ext cx="8022250" cy="1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4"/>
              </a:lnSpc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≤100 мс на Raspberry Pi 4 </a:t>
            </a:r>
            <a:r>
              <a:rPr lang="en-US" sz="12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✅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80564" y="4081824"/>
            <a:ext cx="788209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b="true" sz="135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Сравнение методов маппинга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0564" y="4387901"/>
            <a:ext cx="7882090" cy="5673595"/>
            <a:chOff x="0" y="0"/>
            <a:chExt cx="10509453" cy="7564793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509504" cy="7564755"/>
            </a:xfrm>
            <a:custGeom>
              <a:avLst/>
              <a:gdLst/>
              <a:ahLst/>
              <a:cxnLst/>
              <a:rect r="r" b="b" t="t" l="l"/>
              <a:pathLst>
                <a:path h="7564755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7564755"/>
                  </a:lnTo>
                  <a:lnTo>
                    <a:pt x="0" y="7564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0" r="0" b="-6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48711" y="4081824"/>
            <a:ext cx="7882090" cy="21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b="true" sz="1351" spc="-1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Скорость ввода текста (WPM)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48711" y="4387901"/>
            <a:ext cx="7882090" cy="5673595"/>
            <a:chOff x="0" y="0"/>
            <a:chExt cx="10509453" cy="756479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509504" cy="7564755"/>
            </a:xfrm>
            <a:custGeom>
              <a:avLst/>
              <a:gdLst/>
              <a:ahLst/>
              <a:cxnLst/>
              <a:rect r="r" b="b" t="t" l="l"/>
              <a:pathLst>
                <a:path h="7564755" w="10509504">
                  <a:moveTo>
                    <a:pt x="0" y="0"/>
                  </a:moveTo>
                  <a:lnTo>
                    <a:pt x="10509504" y="0"/>
                  </a:lnTo>
                  <a:lnTo>
                    <a:pt x="10509504" y="7564755"/>
                  </a:lnTo>
                  <a:lnTo>
                    <a:pt x="0" y="75647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60" r="0" b="-6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48711" y="10157860"/>
            <a:ext cx="8797185" cy="164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4"/>
              </a:lnSpc>
            </a:pP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Средний балл SUS: </a:t>
            </a:r>
            <a:r>
              <a:rPr lang="en-US" sz="1200" b="true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74/100</a:t>
            </a:r>
            <a:r>
              <a:rPr lang="en-US" sz="120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выше порога приемлемости (≥70)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24809" y="-23827"/>
            <a:ext cx="6863191" cy="10295039"/>
            <a:chOff x="0" y="0"/>
            <a:chExt cx="9150922" cy="13726719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80564" y="876405"/>
            <a:ext cx="9277521" cy="1417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33"/>
              </a:lnSpc>
            </a:pPr>
            <a:r>
              <a:rPr lang="en-US" b="true" sz="4353" spc="-4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Выводы и практическая значимость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564" y="2773947"/>
            <a:ext cx="43386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Основные выводы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0564" y="3300336"/>
            <a:ext cx="4338647" cy="3137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521"/>
              </a:lnSpc>
              <a:buFont typeface="Arial"/>
              <a:buChar char="•"/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Все четыре гипотезы подтверждены на уровне p &lt; 0.01</a:t>
            </a:r>
          </a:p>
          <a:p>
            <a:pPr algn="l" marL="339857" indent="-169929" lvl="1">
              <a:lnSpc>
                <a:spcPts val="2521"/>
              </a:lnSpc>
              <a:buFont typeface="Arial"/>
              <a:buChar char="•"/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ML-маппинг повысил точность на </a:t>
            </a:r>
            <a:r>
              <a:rPr lang="en-US" b="true" sz="1876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57%</a:t>
            </a: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(4.2° → 1.8°)</a:t>
            </a:r>
          </a:p>
          <a:p>
            <a:pPr algn="l" marL="339857" indent="-169929" lvl="1">
              <a:lnSpc>
                <a:spcPts val="2521"/>
              </a:lnSpc>
              <a:buFont typeface="Arial"/>
              <a:buChar char="•"/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Предиктивный ввод увеличил скорость на </a:t>
            </a:r>
            <a:r>
              <a:rPr lang="en-US" b="true" sz="1876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113%</a:t>
            </a: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(3.8 → 8.1 WPM)</a:t>
            </a:r>
          </a:p>
          <a:p>
            <a:pPr algn="l" marL="339857" indent="-169929" lvl="1">
              <a:lnSpc>
                <a:spcPts val="2521"/>
              </a:lnSpc>
              <a:buFont typeface="Arial"/>
              <a:buChar char="•"/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RL-детектор снизил ложные клики на </a:t>
            </a:r>
            <a:r>
              <a:rPr lang="en-US" b="true" sz="1876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77%</a:t>
            </a: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(18% → 4.2%)</a:t>
            </a:r>
          </a:p>
          <a:p>
            <a:pPr algn="l" marL="339857" indent="-169929" lvl="1">
              <a:lnSpc>
                <a:spcPts val="2521"/>
              </a:lnSpc>
              <a:buFont typeface="Arial"/>
              <a:buChar char="•"/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Латентность </a:t>
            </a:r>
            <a:r>
              <a:rPr lang="en-US" b="true" sz="1876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87 мс</a:t>
            </a: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на Raspberry Pi 4 — в пределах допустимого порога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28973" y="2773947"/>
            <a:ext cx="43386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Практическая значимость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028973" y="3353486"/>
            <a:ext cx="4338647" cy="1700651"/>
            <a:chOff x="0" y="0"/>
            <a:chExt cx="5784863" cy="2267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84850" cy="2267458"/>
            </a:xfrm>
            <a:custGeom>
              <a:avLst/>
              <a:gdLst/>
              <a:ahLst/>
              <a:cxnLst/>
              <a:rect r="r" b="b" t="t" l="l"/>
              <a:pathLst>
                <a:path h="2267458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218309"/>
                  </a:lnTo>
                  <a:cubicBezTo>
                    <a:pt x="5784850" y="2245487"/>
                    <a:pt x="5762879" y="2267458"/>
                    <a:pt x="5735701" y="2267458"/>
                  </a:cubicBezTo>
                  <a:lnTo>
                    <a:pt x="49149" y="2267458"/>
                  </a:lnTo>
                  <a:cubicBezTo>
                    <a:pt x="21971" y="2267458"/>
                    <a:pt x="0" y="2245487"/>
                    <a:pt x="0" y="221830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275022" y="3590020"/>
            <a:ext cx="38465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Стоимость ~$7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5022" y="4116400"/>
            <a:ext cx="3846547" cy="69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В 179–2 857 раз дешевле коммерческих аналогов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028973" y="5250142"/>
            <a:ext cx="4338647" cy="2032197"/>
            <a:chOff x="0" y="0"/>
            <a:chExt cx="5784863" cy="27095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84850" cy="2709545"/>
            </a:xfrm>
            <a:custGeom>
              <a:avLst/>
              <a:gdLst/>
              <a:ahLst/>
              <a:cxnLst/>
              <a:rect r="r" b="b" t="t" l="l"/>
              <a:pathLst>
                <a:path h="2709545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660396"/>
                  </a:lnTo>
                  <a:cubicBezTo>
                    <a:pt x="5784850" y="2687574"/>
                    <a:pt x="5762879" y="2709545"/>
                    <a:pt x="5735701" y="2709545"/>
                  </a:cubicBezTo>
                  <a:lnTo>
                    <a:pt x="49149" y="2709545"/>
                  </a:lnTo>
                  <a:cubicBezTo>
                    <a:pt x="21971" y="2709545"/>
                    <a:pt x="0" y="2687574"/>
                    <a:pt x="0" y="266039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275022" y="5486676"/>
            <a:ext cx="38465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Доступность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75022" y="6013056"/>
            <a:ext cx="3846547" cy="1023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Самостоятельное общение и управление ПК при тяжёлых моторных нарушениях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028973" y="7478354"/>
            <a:ext cx="4338647" cy="1700651"/>
            <a:chOff x="0" y="0"/>
            <a:chExt cx="5784863" cy="22675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84850" cy="2267458"/>
            </a:xfrm>
            <a:custGeom>
              <a:avLst/>
              <a:gdLst/>
              <a:ahLst/>
              <a:cxnLst/>
              <a:rect r="r" b="b" t="t" l="l"/>
              <a:pathLst>
                <a:path h="2267458" w="5784850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5735701" y="0"/>
                  </a:lnTo>
                  <a:cubicBezTo>
                    <a:pt x="5762879" y="0"/>
                    <a:pt x="5784850" y="21971"/>
                    <a:pt x="5784850" y="49149"/>
                  </a:cubicBezTo>
                  <a:lnTo>
                    <a:pt x="5784850" y="2218309"/>
                  </a:lnTo>
                  <a:cubicBezTo>
                    <a:pt x="5784850" y="2245487"/>
                    <a:pt x="5762879" y="2267458"/>
                    <a:pt x="5735701" y="2267458"/>
                  </a:cubicBezTo>
                  <a:lnTo>
                    <a:pt x="49149" y="2267458"/>
                  </a:lnTo>
                  <a:cubicBezTo>
                    <a:pt x="21971" y="2267458"/>
                    <a:pt x="0" y="2245487"/>
                    <a:pt x="0" y="221830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275022" y="7714888"/>
            <a:ext cx="3846547" cy="3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b="true" sz="2176" spc="-22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Воспроизводимость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75022" y="8241268"/>
            <a:ext cx="3846547" cy="69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1876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Открытый исходный код — доступна любому пользователю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DAHU9hZYCzw</dc:identifier>
  <dcterms:modified xsi:type="dcterms:W3CDTF">2011-08-01T06:04:30Z</dcterms:modified>
  <cp:revision>1</cp:revision>
  <dc:title>EyeConnect-Razrabotka-i-validaciya-nizkobyudzhetnoj-AI-sistemy-upravleniya-kompyuterom-s-pomoshyu-vz.pptx</dc:title>
</cp:coreProperties>
</file>